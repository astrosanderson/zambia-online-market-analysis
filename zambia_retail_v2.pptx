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8A9BA8"/>
                </a:solidFill>
                <a:latin typeface="Arial"/>
              </a:defRPr>
            </a:pPr>
            <a:r>
              <a:rPr sz="1000" b="0" i="0" u="none" strike="noStrike">
                <a:solidFill>
                  <a:srgbClr val="8A9BA8"/>
                </a:solidFill>
                <a:latin typeface="Arial"/>
              </a:rPr>
              <a:t>Zambia E-commerce Revenue (USD millions)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E-commerce Revenue (USD m)</c:v>
                </c:pt>
              </c:strCache>
            </c:strRef>
          </c:tx>
          <c:spPr>
            <a:solidFill>
              <a:srgbClr val="D0E4D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C2B36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D0E4DF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D0E4DF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A7F6F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A8C8C0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A8C8C0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A8C8C0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A8C8C0"/>
              </a:solidFill>
              <a:effectLst/>
            </c:spPr>
          </c:dPt>
          <c:cat>
            <c:multiLvlStrRef>
              <c:f>Sheet1!$A$2:$A$8</c:f>
              <c:multiLvlStrCache>
                <c:ptCount val="7"/>
                <c:lvl>
                  <c:pt idx="0">
                    <c:v>2023</c:v>
                  </c:pt>
                  <c:pt idx="1">
                    <c:v>2024</c:v>
                  </c:pt>
                  <c:pt idx="2">
                    <c:v>2025</c:v>
                  </c:pt>
                  <c:pt idx="3">
                    <c:v>2026e</c:v>
                  </c:pt>
                  <c:pt idx="4">
                    <c:v>2027e</c:v>
                  </c:pt>
                  <c:pt idx="5">
                    <c:v>2028e</c:v>
                  </c:pt>
                  <c:pt idx="6">
                    <c:v>2029e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105</c:v>
                </c:pt>
                <c:pt idx="1">
                  <c:v>120</c:v>
                </c:pt>
                <c:pt idx="2">
                  <c:v>134</c:v>
                </c:pt>
                <c:pt idx="3">
                  <c:v>145</c:v>
                </c:pt>
                <c:pt idx="4">
                  <c:v>165</c:v>
                </c:pt>
                <c:pt idx="5">
                  <c:v>185</c:v>
                </c:pt>
                <c:pt idx="6">
                  <c:v>210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C2B36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A9BA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DF2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A9BA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2B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914400"/>
            <a:ext cx="3657600" cy="3657600"/>
          </a:xfrm>
          <a:prstGeom prst="ellipse">
            <a:avLst/>
          </a:prstGeom>
          <a:solidFill>
            <a:srgbClr val="2A7F6F">
              <a:alpha val="12000"/>
            </a:srgbClr>
          </a:solidFill>
          <a:ln w="12700">
            <a:solidFill>
              <a:srgbClr val="2A7F6F">
                <a:alpha val="1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731520" y="3200400"/>
            <a:ext cx="2286000" cy="2286000"/>
          </a:xfrm>
          <a:prstGeom prst="ellipse">
            <a:avLst/>
          </a:prstGeom>
          <a:solidFill>
            <a:srgbClr val="2A7F6F">
              <a:alpha val="8000"/>
            </a:srgbClr>
          </a:solidFill>
          <a:ln w="12700">
            <a:solidFill>
              <a:srgbClr val="2A7F6F">
                <a:alpha val="8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11887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8A9BA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ZAMBIA ONLINE RETAIL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94360" y="1600200"/>
            <a:ext cx="7315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Opportunity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Assessment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594360" y="33375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A9BA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Can it work — and what does the data say?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94360" y="4343400"/>
            <a:ext cx="8229600" cy="13716"/>
          </a:xfrm>
          <a:prstGeom prst="rect">
            <a:avLst/>
          </a:prstGeom>
          <a:solidFill>
            <a:srgbClr val="2A7F6F">
              <a:alpha val="60000"/>
            </a:srgbClr>
          </a:solidFill>
          <a:ln w="12700">
            <a:solidFill>
              <a:srgbClr val="2A7F6F">
                <a:alpha val="6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446227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BA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Based on UK Retail Trends Analysis  · 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2B3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What We'll Cover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4023360" cy="960120"/>
          </a:xfrm>
          <a:prstGeom prst="rect">
            <a:avLst/>
          </a:prstGeom>
          <a:solidFill>
            <a:srgbClr val="F7F9F8"/>
          </a:solidFill>
          <a:ln w="12700">
            <a:solidFill>
              <a:srgbClr val="EDF2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234440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A7F6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7276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B3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What Online Retail Is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892040" y="1097280"/>
            <a:ext cx="4023360" cy="960120"/>
          </a:xfrm>
          <a:prstGeom prst="rect">
            <a:avLst/>
          </a:prstGeom>
          <a:solidFill>
            <a:srgbClr val="F7F9F8"/>
          </a:solidFill>
          <a:ln w="12700">
            <a:solidFill>
              <a:srgbClr val="EDF2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74920" y="1234440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A7F6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02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74920" y="157276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B3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Lessons from the UK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2331720"/>
            <a:ext cx="4023360" cy="960120"/>
          </a:xfrm>
          <a:prstGeom prst="rect">
            <a:avLst/>
          </a:prstGeom>
          <a:solidFill>
            <a:srgbClr val="F7F9F8"/>
          </a:solidFill>
          <a:ln w="12700">
            <a:solidFill>
              <a:srgbClr val="EDF2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2468880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A7F6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03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31520" y="280720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B3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Zambia's Digital Landscape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892040" y="2331720"/>
            <a:ext cx="4023360" cy="960120"/>
          </a:xfrm>
          <a:prstGeom prst="rect">
            <a:avLst/>
          </a:prstGeom>
          <a:solidFill>
            <a:srgbClr val="F7F9F8"/>
          </a:solidFill>
          <a:ln w="12700">
            <a:solidFill>
              <a:srgbClr val="EDF2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74920" y="2468880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A7F6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04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074920" y="280720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B3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Market Opportunity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3566160"/>
            <a:ext cx="4023360" cy="960120"/>
          </a:xfrm>
          <a:prstGeom prst="rect">
            <a:avLst/>
          </a:prstGeom>
          <a:solidFill>
            <a:srgbClr val="F7F9F8"/>
          </a:solidFill>
          <a:ln w="12700">
            <a:solidFill>
              <a:srgbClr val="EDF2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3703320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A7F6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05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31520" y="404164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B3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Challenges to Navigate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892040" y="3566160"/>
            <a:ext cx="4023360" cy="960120"/>
          </a:xfrm>
          <a:prstGeom prst="rect">
            <a:avLst/>
          </a:prstGeom>
          <a:solidFill>
            <a:srgbClr val="F7F9F8"/>
          </a:solidFill>
          <a:ln w="12700">
            <a:solidFill>
              <a:srgbClr val="EDF2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74920" y="3703320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A7F6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06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074920" y="404164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B3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Verdict &amp; Recommendations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2B3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01  ·  What Is Online Retail?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005840"/>
            <a:ext cx="8046720" cy="822960"/>
          </a:xfrm>
          <a:prstGeom prst="rect">
            <a:avLst/>
          </a:prstGeom>
          <a:solidFill>
            <a:srgbClr val="2A7F6F"/>
          </a:solidFill>
          <a:ln w="12700">
            <a:solidFill>
              <a:srgbClr val="2A7F6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078992"/>
            <a:ext cx="7680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Buying and selling goods online — replacing or supplementing a physical store.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3931920" cy="1188720"/>
          </a:xfrm>
          <a:prstGeom prst="rect">
            <a:avLst/>
          </a:prstGeom>
          <a:solidFill>
            <a:srgbClr val="F7F9F8"/>
          </a:solidFill>
          <a:ln w="12700">
            <a:solidFill>
              <a:srgbClr val="EDF2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2011680"/>
            <a:ext cx="54864" cy="1188720"/>
          </a:xfrm>
          <a:prstGeom prst="rect">
            <a:avLst/>
          </a:prstGeom>
          <a:solidFill>
            <a:srgbClr val="2A7F6F"/>
          </a:solidFill>
          <a:ln w="12700">
            <a:solidFill>
              <a:srgbClr val="2A7F6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3232" y="217627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B3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Website / App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13232" y="2542032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BA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Browse and buy online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09160" y="2011680"/>
            <a:ext cx="3931920" cy="1188720"/>
          </a:xfrm>
          <a:prstGeom prst="rect">
            <a:avLst/>
          </a:prstGeom>
          <a:solidFill>
            <a:srgbClr val="F7F9F8"/>
          </a:solidFill>
          <a:ln w="12700">
            <a:solidFill>
              <a:srgbClr val="EDF2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09160" y="2011680"/>
            <a:ext cx="54864" cy="1188720"/>
          </a:xfrm>
          <a:prstGeom prst="rect">
            <a:avLst/>
          </a:prstGeom>
          <a:solidFill>
            <a:srgbClr val="2A7F6F"/>
          </a:solidFill>
          <a:ln w="12700">
            <a:solidFill>
              <a:srgbClr val="2A7F6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73752" y="217627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B3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Social Commerce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73752" y="2542032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BA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Facebook, Instagram, WhatsApp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3429000"/>
            <a:ext cx="3931920" cy="1188720"/>
          </a:xfrm>
          <a:prstGeom prst="rect">
            <a:avLst/>
          </a:prstGeom>
          <a:solidFill>
            <a:srgbClr val="F7F9F8"/>
          </a:solidFill>
          <a:ln w="12700">
            <a:solidFill>
              <a:srgbClr val="EDF2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3429000"/>
            <a:ext cx="54864" cy="1188720"/>
          </a:xfrm>
          <a:prstGeom prst="rect">
            <a:avLst/>
          </a:prstGeom>
          <a:solidFill>
            <a:srgbClr val="2A7F6F"/>
          </a:solidFill>
          <a:ln w="12700">
            <a:solidFill>
              <a:srgbClr val="2A7F6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13232" y="359359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B3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Marketplace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13232" y="3959352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BA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Platforms like Jumia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09160" y="3429000"/>
            <a:ext cx="3931920" cy="1188720"/>
          </a:xfrm>
          <a:prstGeom prst="rect">
            <a:avLst/>
          </a:prstGeom>
          <a:solidFill>
            <a:srgbClr val="F7F9F8"/>
          </a:solidFill>
          <a:ln w="12700">
            <a:solidFill>
              <a:srgbClr val="EDF2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09160" y="3429000"/>
            <a:ext cx="54864" cy="1188720"/>
          </a:xfrm>
          <a:prstGeom prst="rect">
            <a:avLst/>
          </a:prstGeom>
          <a:solidFill>
            <a:srgbClr val="2A7F6F"/>
          </a:solidFill>
          <a:ln w="12700">
            <a:solidFill>
              <a:srgbClr val="2A7F6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73752" y="359359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B3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Mobile Money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873752" y="3959352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BA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MTN MoMo, Airtel Money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2B3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02  ·  Lessons from the UK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005840"/>
            <a:ext cx="2651760" cy="1188720"/>
          </a:xfrm>
          <a:prstGeom prst="rect">
            <a:avLst/>
          </a:prstGeom>
          <a:solidFill>
            <a:srgbClr val="F7F9F8"/>
          </a:solidFill>
          <a:ln w="12700">
            <a:solidFill>
              <a:srgbClr val="EDF2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09728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7F6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10.7%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73736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BA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of UK sales now online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410712" y="1005840"/>
            <a:ext cx="2651760" cy="1188720"/>
          </a:xfrm>
          <a:prstGeom prst="rect">
            <a:avLst/>
          </a:prstGeom>
          <a:solidFill>
            <a:srgbClr val="2A7F6F"/>
          </a:solidFill>
          <a:ln w="12700">
            <a:solidFill>
              <a:srgbClr val="EDF2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10712" y="109728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26.7%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3410712" y="173736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CE8E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Zambia e-comm growth 2025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272784" y="1005840"/>
            <a:ext cx="2651760" cy="1188720"/>
          </a:xfrm>
          <a:prstGeom prst="rect">
            <a:avLst/>
          </a:prstGeom>
          <a:solidFill>
            <a:srgbClr val="F7F9F8"/>
          </a:solidFill>
          <a:ln w="12700">
            <a:solidFill>
              <a:srgbClr val="EDF2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72784" y="109728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7F6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5.4%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6272784" y="173736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BA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UK year-on-year growth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48640" y="2423160"/>
            <a:ext cx="2651760" cy="2423160"/>
          </a:xfrm>
          <a:prstGeom prst="rect">
            <a:avLst/>
          </a:prstGeom>
          <a:solidFill>
            <a:srgbClr val="F7F9F8"/>
          </a:solidFill>
          <a:ln w="12700">
            <a:solidFill>
              <a:srgbClr val="EDF2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2542032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7F6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01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31520" y="2944368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B3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COVID changed everything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31520" y="3401568"/>
            <a:ext cx="2331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BA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2020 pandemic shifted consumers online permanently — in both the UK and Zambia. That window is still open.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410712" y="2423160"/>
            <a:ext cx="2651760" cy="2423160"/>
          </a:xfrm>
          <a:prstGeom prst="rect">
            <a:avLst/>
          </a:prstGeom>
          <a:solidFill>
            <a:srgbClr val="F7F9F8"/>
          </a:solidFill>
          <a:ln w="12700">
            <a:solidFill>
              <a:srgbClr val="EDF2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593592" y="2542032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7F6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02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593592" y="2944368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B3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Online starts small, grows fast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593592" y="3401568"/>
            <a:ext cx="2331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BA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UK's online share started near zero. Today it's 10.7%. Being early in Zambia is an advantage.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272784" y="2423160"/>
            <a:ext cx="2651760" cy="2423160"/>
          </a:xfrm>
          <a:prstGeom prst="rect">
            <a:avLst/>
          </a:prstGeom>
          <a:solidFill>
            <a:srgbClr val="F7F9F8"/>
          </a:solidFill>
          <a:ln w="12700">
            <a:solidFill>
              <a:srgbClr val="EDF2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55664" y="2542032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7F6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03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455664" y="2944368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B3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Seasonal peaks drive revenue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455664" y="3401568"/>
            <a:ext cx="2331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BA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Nov–Dec spikes are consistent. Businesses that plan for this earn significantly more.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2B3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03  ·  Zambia's Digital Landscape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005840"/>
            <a:ext cx="1965960" cy="1143000"/>
          </a:xfrm>
          <a:prstGeom prst="rect">
            <a:avLst/>
          </a:prstGeom>
          <a:solidFill>
            <a:srgbClr val="F7F9F8"/>
          </a:solidFill>
          <a:ln w="12700">
            <a:solidFill>
              <a:srgbClr val="EDF2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097280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A7F6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21.6M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BA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Population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697480" y="1005840"/>
            <a:ext cx="1965960" cy="1143000"/>
          </a:xfrm>
          <a:prstGeom prst="rect">
            <a:avLst/>
          </a:prstGeom>
          <a:solidFill>
            <a:srgbClr val="F7F9F8"/>
          </a:solidFill>
          <a:ln w="12700">
            <a:solidFill>
              <a:srgbClr val="EDF2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697480" y="1097280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A7F6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33%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2697480" y="169164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BA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Internet users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846320" y="1005840"/>
            <a:ext cx="1965960" cy="1143000"/>
          </a:xfrm>
          <a:prstGeom prst="rect">
            <a:avLst/>
          </a:prstGeom>
          <a:solidFill>
            <a:srgbClr val="F7F9F8"/>
          </a:solidFill>
          <a:ln w="12700">
            <a:solidFill>
              <a:srgbClr val="EDF2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46320" y="1097280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A7F6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92%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4846320" y="169164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BA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Mobile coverage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995160" y="1005840"/>
            <a:ext cx="1965960" cy="1143000"/>
          </a:xfrm>
          <a:prstGeom prst="rect">
            <a:avLst/>
          </a:prstGeom>
          <a:solidFill>
            <a:srgbClr val="2A7F6F"/>
          </a:solidFill>
          <a:ln w="12700">
            <a:solidFill>
              <a:srgbClr val="EDF2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995160" y="1097280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95%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6995160" y="169164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CE8E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Mobile money users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48640" y="23774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B3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Connectivity at a glance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" y="283464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3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Mobile money users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229600" y="2834640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A7F6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95%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926080" y="2880360"/>
            <a:ext cx="5349240" cy="128016"/>
          </a:xfrm>
          <a:prstGeom prst="rect">
            <a:avLst/>
          </a:prstGeom>
          <a:solidFill>
            <a:srgbClr val="EDF2F0"/>
          </a:solidFill>
          <a:ln w="12700">
            <a:solidFill>
              <a:srgbClr val="EDF2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926080" y="2880360"/>
            <a:ext cx="5081778" cy="128016"/>
          </a:xfrm>
          <a:prstGeom prst="rect">
            <a:avLst/>
          </a:prstGeom>
          <a:solidFill>
            <a:srgbClr val="2A7F6F"/>
          </a:solidFill>
          <a:ln w="12700">
            <a:solidFill>
              <a:srgbClr val="2A7F6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334670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3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Mobile coverage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229600" y="3346704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A7F6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92%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926080" y="3392424"/>
            <a:ext cx="5349240" cy="128016"/>
          </a:xfrm>
          <a:prstGeom prst="rect">
            <a:avLst/>
          </a:prstGeom>
          <a:solidFill>
            <a:srgbClr val="EDF2F0"/>
          </a:solidFill>
          <a:ln w="12700">
            <a:solidFill>
              <a:srgbClr val="EDF2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926080" y="3392424"/>
            <a:ext cx="4921301" cy="128016"/>
          </a:xfrm>
          <a:prstGeom prst="rect">
            <a:avLst/>
          </a:prstGeom>
          <a:solidFill>
            <a:srgbClr val="2A7F6F"/>
          </a:solidFill>
          <a:ln w="12700">
            <a:solidFill>
              <a:srgbClr val="2A7F6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385876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3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Internet users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229600" y="3858768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A7F6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33%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926080" y="3904488"/>
            <a:ext cx="5349240" cy="128016"/>
          </a:xfrm>
          <a:prstGeom prst="rect">
            <a:avLst/>
          </a:prstGeom>
          <a:solidFill>
            <a:srgbClr val="EDF2F0"/>
          </a:solidFill>
          <a:ln w="12700">
            <a:solidFill>
              <a:srgbClr val="EDF2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926080" y="3904488"/>
            <a:ext cx="1765249" cy="128016"/>
          </a:xfrm>
          <a:prstGeom prst="rect">
            <a:avLst/>
          </a:prstGeom>
          <a:solidFill>
            <a:srgbClr val="2A7F6F">
              <a:alpha val="60000"/>
            </a:srgbClr>
          </a:solidFill>
          <a:ln w="12700">
            <a:solidFill>
              <a:srgbClr val="2A7F6F">
                <a:alpha val="60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8640" y="437083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3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Bank account holders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8229600" y="437083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A7F6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23%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926080" y="4416552"/>
            <a:ext cx="5349240" cy="128016"/>
          </a:xfrm>
          <a:prstGeom prst="rect">
            <a:avLst/>
          </a:prstGeom>
          <a:solidFill>
            <a:srgbClr val="EDF2F0"/>
          </a:solidFill>
          <a:ln w="12700">
            <a:solidFill>
              <a:srgbClr val="EDF2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926080" y="4416552"/>
            <a:ext cx="1230325" cy="128016"/>
          </a:xfrm>
          <a:prstGeom prst="rect">
            <a:avLst/>
          </a:prstGeom>
          <a:solidFill>
            <a:srgbClr val="2A7F6F">
              <a:alpha val="60000"/>
            </a:srgbClr>
          </a:solidFill>
          <a:ln w="12700">
            <a:solidFill>
              <a:srgbClr val="2A7F6F">
                <a:alpha val="6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349240" y="2331720"/>
            <a:ext cx="3429000" cy="2468880"/>
          </a:xfrm>
          <a:prstGeom prst="rect">
            <a:avLst/>
          </a:prstGeom>
          <a:solidFill>
            <a:srgbClr val="F7F9F8"/>
          </a:solidFill>
          <a:ln w="12700">
            <a:solidFill>
              <a:srgbClr val="EDF2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532120" y="246888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A7F6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Key insight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532120" y="2788920"/>
            <a:ext cx="30632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E3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Only 2% of Zambians use credit cards — but 95% use mobile money. The payment barrier that stopped e-commerce elsewhere doesn't exist here.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2B3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04  ·  The Market Opportunity</a:t>
            </a:r>
            <a:endParaRPr lang="en-US" sz="26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960120"/>
          <a:ext cx="530352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6172200" y="960120"/>
            <a:ext cx="2606040" cy="960120"/>
          </a:xfrm>
          <a:prstGeom prst="rect">
            <a:avLst/>
          </a:prstGeom>
          <a:solidFill>
            <a:srgbClr val="F7F9F8"/>
          </a:solidFill>
          <a:ln w="12700">
            <a:solidFill>
              <a:srgbClr val="EDF2F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309360" y="1033272"/>
            <a:ext cx="2331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A7F6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$134M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6309360" y="1581912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BA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Market size today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6172200" y="2057400"/>
            <a:ext cx="2606040" cy="960120"/>
          </a:xfrm>
          <a:prstGeom prst="rect">
            <a:avLst/>
          </a:prstGeom>
          <a:solidFill>
            <a:srgbClr val="2A7F6F"/>
          </a:solidFill>
          <a:ln w="12700">
            <a:solidFill>
              <a:srgbClr val="EDF2F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309360" y="2130552"/>
            <a:ext cx="2331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26.7%</a:t>
            </a:r>
            <a:endParaRPr lang="en-US" sz="2600" dirty="0"/>
          </a:p>
        </p:txBody>
      </p:sp>
      <p:sp>
        <p:nvSpPr>
          <p:cNvPr id="9" name="Text 6"/>
          <p:cNvSpPr/>
          <p:nvPr/>
        </p:nvSpPr>
        <p:spPr>
          <a:xfrm>
            <a:off x="6309360" y="2679192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E8E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Annual growth rate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6172200" y="3154680"/>
            <a:ext cx="2606040" cy="960120"/>
          </a:xfrm>
          <a:prstGeom prst="rect">
            <a:avLst/>
          </a:prstGeom>
          <a:solidFill>
            <a:srgbClr val="F7F9F8"/>
          </a:solidFill>
          <a:ln w="12700">
            <a:solidFill>
              <a:srgbClr val="EDF2F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309360" y="3227832"/>
            <a:ext cx="2331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A7F6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$2.3B</a:t>
            </a:r>
            <a:endParaRPr lang="en-US" sz="2600" dirty="0"/>
          </a:p>
        </p:txBody>
      </p:sp>
      <p:sp>
        <p:nvSpPr>
          <p:cNvPr id="12" name="Text 9"/>
          <p:cNvSpPr/>
          <p:nvPr/>
        </p:nvSpPr>
        <p:spPr>
          <a:xfrm>
            <a:off x="6309360" y="3776472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BA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Projected by 2029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548640" y="4480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BA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Largest categories: Electronics 24%  ·  Fashion 20%  ·  Hobby &amp; Leisure 21%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2B3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05  ·  Challenges to Navigate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877824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A9BA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Real — but solvable.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4023360" cy="1600200"/>
          </a:xfrm>
          <a:prstGeom prst="rect">
            <a:avLst/>
          </a:prstGeom>
          <a:solidFill>
            <a:srgbClr val="F7F9F8"/>
          </a:solidFill>
          <a:ln w="12700">
            <a:solidFill>
              <a:srgbClr val="EDF2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25880"/>
            <a:ext cx="54864" cy="1600200"/>
          </a:xfrm>
          <a:prstGeom prst="rect">
            <a:avLst/>
          </a:prstGeom>
          <a:solidFill>
            <a:srgbClr val="2A7F6F"/>
          </a:solidFill>
          <a:ln w="12700">
            <a:solidFill>
              <a:srgbClr val="2A7F6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49047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B3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Low Internet Penetration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180136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7F6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33% online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31520" y="2130552"/>
            <a:ext cx="3657600" cy="13716"/>
          </a:xfrm>
          <a:prstGeom prst="rect">
            <a:avLst/>
          </a:prstGeom>
          <a:solidFill>
            <a:srgbClr val="EDF2F0"/>
          </a:solidFill>
          <a:ln w="12700">
            <a:solidFill>
              <a:srgbClr val="EDF2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224028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A9BA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→  Use WhatsApp &amp; USSD alongside websites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892040" y="1325880"/>
            <a:ext cx="4023360" cy="1600200"/>
          </a:xfrm>
          <a:prstGeom prst="rect">
            <a:avLst/>
          </a:prstGeom>
          <a:solidFill>
            <a:srgbClr val="F7F9F8"/>
          </a:solidFill>
          <a:ln w="12700">
            <a:solidFill>
              <a:srgbClr val="EDF2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92040" y="1325880"/>
            <a:ext cx="54864" cy="1600200"/>
          </a:xfrm>
          <a:prstGeom prst="rect">
            <a:avLst/>
          </a:prstGeom>
          <a:solidFill>
            <a:srgbClr val="2A7F6F"/>
          </a:solidFill>
          <a:ln w="12700">
            <a:solidFill>
              <a:srgbClr val="2A7F6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74920" y="149047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B3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Last-Mile Delivery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074920" y="180136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7F6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Rural costs are high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074920" y="2130552"/>
            <a:ext cx="3657600" cy="13716"/>
          </a:xfrm>
          <a:prstGeom prst="rect">
            <a:avLst/>
          </a:prstGeom>
          <a:solidFill>
            <a:srgbClr val="EDF2F0"/>
          </a:solidFill>
          <a:ln w="12700">
            <a:solidFill>
              <a:srgbClr val="EDF2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74920" y="224028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A9BA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→  Start in Lusaka, partner with local couriers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3154680"/>
            <a:ext cx="4023360" cy="1600200"/>
          </a:xfrm>
          <a:prstGeom prst="rect">
            <a:avLst/>
          </a:prstGeom>
          <a:solidFill>
            <a:srgbClr val="F7F9F8"/>
          </a:solidFill>
          <a:ln w="12700">
            <a:solidFill>
              <a:srgbClr val="EDF2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154680"/>
            <a:ext cx="54864" cy="1600200"/>
          </a:xfrm>
          <a:prstGeom prst="rect">
            <a:avLst/>
          </a:prstGeom>
          <a:solidFill>
            <a:srgbClr val="2A7F6F"/>
          </a:solidFill>
          <a:ln w="12700">
            <a:solidFill>
              <a:srgbClr val="2A7F6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331927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B3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Consumer Trust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31520" y="363016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7F6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New to online buying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3959352"/>
            <a:ext cx="3657600" cy="13716"/>
          </a:xfrm>
          <a:prstGeom prst="rect">
            <a:avLst/>
          </a:prstGeom>
          <a:solidFill>
            <a:srgbClr val="EDF2F0"/>
          </a:solidFill>
          <a:ln w="12700">
            <a:solidFill>
              <a:srgbClr val="EDF2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406908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A9BA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→  Offer cash-on-delivery &amp; clear return policies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892040" y="3154680"/>
            <a:ext cx="4023360" cy="1600200"/>
          </a:xfrm>
          <a:prstGeom prst="rect">
            <a:avLst/>
          </a:prstGeom>
          <a:solidFill>
            <a:srgbClr val="F7F9F8"/>
          </a:solidFill>
          <a:ln w="12700">
            <a:solidFill>
              <a:srgbClr val="EDF2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892040" y="3154680"/>
            <a:ext cx="54864" cy="1600200"/>
          </a:xfrm>
          <a:prstGeom prst="rect">
            <a:avLst/>
          </a:prstGeom>
          <a:solidFill>
            <a:srgbClr val="2A7F6F"/>
          </a:solidFill>
          <a:ln w="12700">
            <a:solidFill>
              <a:srgbClr val="2A7F6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74920" y="331927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B3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Urban–Rural Divide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074920" y="363016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7F6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53% live rurally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074920" y="3959352"/>
            <a:ext cx="3657600" cy="13716"/>
          </a:xfrm>
          <a:prstGeom prst="rect">
            <a:avLst/>
          </a:prstGeom>
          <a:solidFill>
            <a:srgbClr val="EDF2F0"/>
          </a:solidFill>
          <a:ln w="12700">
            <a:solidFill>
              <a:srgbClr val="EDF2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74920" y="406908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A9BA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→  Phase rollout — cities first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C2B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457200"/>
            <a:ext cx="3200400" cy="3200400"/>
          </a:xfrm>
          <a:prstGeom prst="ellipse">
            <a:avLst/>
          </a:prstGeom>
          <a:solidFill>
            <a:srgbClr val="2A7F6F">
              <a:alpha val="10000"/>
            </a:srgbClr>
          </a:solidFill>
          <a:ln w="12700">
            <a:solidFill>
              <a:srgbClr val="2A7F6F">
                <a:alpha val="1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47472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9BA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06  ·  Verdict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YES — it can work.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8046720" cy="685800"/>
          </a:xfrm>
          <a:prstGeom prst="rect">
            <a:avLst/>
          </a:prstGeom>
          <a:solidFill>
            <a:srgbClr val="2A7F6F">
              <a:alpha val="20000"/>
            </a:srgbClr>
          </a:solidFill>
          <a:ln w="12700">
            <a:solidFill>
              <a:srgbClr val="2A7F6F">
                <a:alpha val="2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737360"/>
            <a:ext cx="7772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Zambia's market is growing at 26.7% — mobile money solves the payment gap and consumer behaviour is already shifting.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606040"/>
            <a:ext cx="2606040" cy="1051560"/>
          </a:xfrm>
          <a:prstGeom prst="rect">
            <a:avLst/>
          </a:prstGeom>
          <a:solidFill>
            <a:srgbClr val="172530"/>
          </a:solidFill>
          <a:ln w="12700">
            <a:solidFill>
              <a:srgbClr val="17253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2697480"/>
            <a:ext cx="320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A7F6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85800" y="2999232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Mobile-first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85800" y="3300984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BA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Build for WhatsApp &amp; mobile money before a website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383280" y="2606040"/>
            <a:ext cx="2606040" cy="1051560"/>
          </a:xfrm>
          <a:prstGeom prst="rect">
            <a:avLst/>
          </a:prstGeom>
          <a:solidFill>
            <a:srgbClr val="172530"/>
          </a:solidFill>
          <a:ln w="12700">
            <a:solidFill>
              <a:srgbClr val="17253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20440" y="2697480"/>
            <a:ext cx="320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A7F6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520440" y="2999232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Start in Lusaka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520440" y="3300984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BA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Prove the model in cities, then expand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217920" y="2606040"/>
            <a:ext cx="2606040" cy="1051560"/>
          </a:xfrm>
          <a:prstGeom prst="rect">
            <a:avLst/>
          </a:prstGeom>
          <a:solidFill>
            <a:srgbClr val="172530"/>
          </a:solidFill>
          <a:ln w="12700">
            <a:solidFill>
              <a:srgbClr val="17253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55080" y="2697480"/>
            <a:ext cx="320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A7F6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355080" y="2999232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Cash-on-delivery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355080" y="3300984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BA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Removes trust barrier, boosts conversions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48640" y="3840480"/>
            <a:ext cx="2606040" cy="1051560"/>
          </a:xfrm>
          <a:prstGeom prst="rect">
            <a:avLst/>
          </a:prstGeom>
          <a:solidFill>
            <a:srgbClr val="172530"/>
          </a:solidFill>
          <a:ln w="12700">
            <a:solidFill>
              <a:srgbClr val="17253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5800" y="3931920"/>
            <a:ext cx="320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A7F6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85800" y="4233672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Electronics &amp; Fashion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85800" y="4535424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BA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Largest categories — start where demand exists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383280" y="3840480"/>
            <a:ext cx="2606040" cy="1051560"/>
          </a:xfrm>
          <a:prstGeom prst="rect">
            <a:avLst/>
          </a:prstGeom>
          <a:solidFill>
            <a:srgbClr val="172530"/>
          </a:solidFill>
          <a:ln w="12700">
            <a:solidFill>
              <a:srgbClr val="17253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20440" y="3931920"/>
            <a:ext cx="320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A7F6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520440" y="4233672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December peaks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520440" y="4535424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BA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Festive demand is your biggest revenue window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217920" y="3840480"/>
            <a:ext cx="2606040" cy="1051560"/>
          </a:xfrm>
          <a:prstGeom prst="rect">
            <a:avLst/>
          </a:prstGeom>
          <a:solidFill>
            <a:srgbClr val="172530"/>
          </a:solidFill>
          <a:ln w="12700">
            <a:solidFill>
              <a:srgbClr val="17253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355080" y="3931920"/>
            <a:ext cx="320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A7F6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355080" y="4233672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Partner on delivery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355080" y="4535424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BA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Use local couriers from day one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C2B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2286000"/>
            <a:ext cx="3200400" cy="3200400"/>
          </a:xfrm>
          <a:prstGeom prst="ellipse">
            <a:avLst/>
          </a:prstGeom>
          <a:solidFill>
            <a:srgbClr val="2A7F6F">
              <a:alpha val="10000"/>
            </a:srgbClr>
          </a:solidFill>
          <a:ln w="12700">
            <a:solidFill>
              <a:srgbClr val="2A7F6F">
                <a:alpha val="1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1280160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opportunity is real.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594360" y="2148840"/>
            <a:ext cx="6858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9BA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Zambia is growing faster than the UK did at this stage.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8A9BA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payment layer is solved. Behaviour is shifting.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8A9BA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question is whether we move now — or watch others do it first.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94360" y="4160520"/>
            <a:ext cx="7955280" cy="13716"/>
          </a:xfrm>
          <a:prstGeom prst="rect">
            <a:avLst/>
          </a:prstGeom>
          <a:solidFill>
            <a:srgbClr val="2A7F6F">
              <a:alpha val="50000"/>
            </a:srgbClr>
          </a:solidFill>
          <a:ln w="12700">
            <a:solidFill>
              <a:srgbClr val="2A7F6F">
                <a:alpha val="5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4343400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BA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Thank you  ·  Questions welcome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Zambia Online Retail</dc:title>
  <dc:subject>PptxGenJS Presentation</dc:subject>
  <dc:creator>PptxGenJS</dc:creator>
  <cp:lastModifiedBy>PptxGenJS</cp:lastModifiedBy>
  <cp:revision>1</cp:revision>
  <dcterms:created xsi:type="dcterms:W3CDTF">2026-05-29T10:12:14Z</dcterms:created>
  <dcterms:modified xsi:type="dcterms:W3CDTF">2026-05-29T10:12:14Z</dcterms:modified>
</cp:coreProperties>
</file>