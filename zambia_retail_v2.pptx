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23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8A9BA8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8A9BA8"/>
                </a:solidFill>
                <a:latin typeface="Arial"/>
              </a:rPr>
              <a:t>Zambia E-commerce Revenue (USD 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E-commerce Revenue (USD m)</c:v>
                </c:pt>
              </c:strCache>
            </c:strRef>
          </c:tx>
          <c:spPr>
            <a:solidFill>
              <a:srgbClr val="D0E4D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0E4D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C78-484F-BB28-2D9EB75ABBFE}"/>
              </c:ext>
            </c:extLst>
          </c:dPt>
          <c:dPt>
            <c:idx val="1"/>
            <c:invertIfNegative val="0"/>
            <c:bubble3D val="0"/>
            <c:spPr>
              <a:solidFill>
                <a:srgbClr val="D0E4D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C78-484F-BB28-2D9EB75ABBFE}"/>
              </c:ext>
            </c:extLst>
          </c:dPt>
          <c:dPt>
            <c:idx val="2"/>
            <c:invertIfNegative val="0"/>
            <c:bubble3D val="0"/>
            <c:spPr>
              <a:solidFill>
                <a:srgbClr val="2A7F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C78-484F-BB28-2D9EB75ABBFE}"/>
              </c:ext>
            </c:extLst>
          </c:dPt>
          <c:dPt>
            <c:idx val="3"/>
            <c:invertIfNegative val="0"/>
            <c:bubble3D val="0"/>
            <c:spPr>
              <a:solidFill>
                <a:srgbClr val="A8C8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C78-484F-BB28-2D9EB75ABBFE}"/>
              </c:ext>
            </c:extLst>
          </c:dPt>
          <c:dPt>
            <c:idx val="4"/>
            <c:invertIfNegative val="0"/>
            <c:bubble3D val="0"/>
            <c:spPr>
              <a:solidFill>
                <a:srgbClr val="A8C8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C78-484F-BB28-2D9EB75ABBFE}"/>
              </c:ext>
            </c:extLst>
          </c:dPt>
          <c:dPt>
            <c:idx val="5"/>
            <c:invertIfNegative val="0"/>
            <c:bubble3D val="0"/>
            <c:spPr>
              <a:solidFill>
                <a:srgbClr val="A8C8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DC78-484F-BB28-2D9EB75ABBFE}"/>
              </c:ext>
            </c:extLst>
          </c:dPt>
          <c:dPt>
            <c:idx val="6"/>
            <c:invertIfNegative val="0"/>
            <c:bubble3D val="0"/>
            <c:spPr>
              <a:solidFill>
                <a:srgbClr val="A8C8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DC78-484F-BB28-2D9EB75ABBF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C2B3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  <c:pt idx="6">
                  <c:v>2029e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105</c:v>
                </c:pt>
                <c:pt idx="1">
                  <c:v>120</c:v>
                </c:pt>
                <c:pt idx="2">
                  <c:v>134</c:v>
                </c:pt>
                <c:pt idx="3">
                  <c:v>145</c:v>
                </c:pt>
                <c:pt idx="4">
                  <c:v>165</c:v>
                </c:pt>
                <c:pt idx="5">
                  <c:v>185</c:v>
                </c:pt>
                <c:pt idx="6">
                  <c:v>210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C78-484F-BB28-2D9EB75ABB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9B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DF2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9B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130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914400"/>
            <a:ext cx="3657600" cy="3657600"/>
          </a:xfrm>
          <a:prstGeom prst="ellipse">
            <a:avLst/>
          </a:prstGeom>
          <a:solidFill>
            <a:srgbClr val="2A7F6F">
              <a:alpha val="12000"/>
            </a:srgbClr>
          </a:solidFill>
          <a:ln w="12700">
            <a:solidFill>
              <a:srgbClr val="2A7F6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286000" cy="2286000"/>
          </a:xfrm>
          <a:prstGeom prst="ellipse">
            <a:avLst/>
          </a:prstGeom>
          <a:solidFill>
            <a:srgbClr val="2A7F6F">
              <a:alpha val="8000"/>
            </a:srgbClr>
          </a:solidFill>
          <a:ln w="12700">
            <a:solidFill>
              <a:srgbClr val="2A7F6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ZAMBIA ONLINE RETAIL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Opportunity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Assessment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94360" y="3337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it work — and what does the data say?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4343400"/>
            <a:ext cx="8229600" cy="13716"/>
          </a:xfrm>
          <a:prstGeom prst="rect">
            <a:avLst/>
          </a:prstGeom>
          <a:solidFill>
            <a:srgbClr val="2A7F6F">
              <a:alpha val="60000"/>
            </a:srgbClr>
          </a:solidFill>
          <a:ln w="12700">
            <a:solidFill>
              <a:srgbClr val="2A7F6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44622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Based on UK Retail Trends Analysis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02336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727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Online Retail 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92040" y="1097280"/>
            <a:ext cx="402336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74920" y="12344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15727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Lessons from the UK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402336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807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Zambia's Digital Landscape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92040" y="2331720"/>
            <a:ext cx="402336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74920" y="24688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2807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Market Opportunity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402336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416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Challenges to Navigate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92040" y="3566160"/>
            <a:ext cx="402336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74920" y="37033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74920" y="40416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Verdict &amp; Recommendations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 ·  What Is Online Retail?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07899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Buying and selling goods online — replacing or supplementing a physical store.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931920" cy="11887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864" cy="118872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3232" y="21762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Website / App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5420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Browse and buy online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2011680"/>
            <a:ext cx="3931920" cy="11887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2011680"/>
            <a:ext cx="54864" cy="118872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73752" y="21762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Social Commerce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2" y="25420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Facebook, Instagram, WhatsApp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11887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4864" cy="118872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" y="3593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39593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Platforms like Amazon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1887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09160" y="3429000"/>
            <a:ext cx="54864" cy="118872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73752" y="3593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Money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73752" y="39593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MTN MoMo, Airtel Money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 ·  Lessons from the UK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2651760" cy="11887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10.7%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UK sales now online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10712" y="1005840"/>
            <a:ext cx="2651760" cy="1188720"/>
          </a:xfrm>
          <a:prstGeom prst="rect">
            <a:avLst/>
          </a:prstGeom>
          <a:solidFill>
            <a:srgbClr val="2A7F6F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10712" y="1097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26.7%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410712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E8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Zambia e-comm growth 2025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72784" y="1005840"/>
            <a:ext cx="2651760" cy="11887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72784" y="1097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5.4%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272784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UK year-on-year growth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2651760" cy="242316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542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29443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COVID changed everything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401568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2020 pandemic shifted consumers online permanently — in both the UK and Zambia. That window is still open.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10712" y="2423160"/>
            <a:ext cx="2651760" cy="242316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93592" y="2542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93592" y="29443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Online starts small, grows fast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93592" y="3401568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UK's online share started near zero. Today it's 10.7%. Being early in Zambia is an advantage.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2784" y="2423160"/>
            <a:ext cx="2651760" cy="242316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55664" y="2542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55664" y="29443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Seasonal peaks drive revenue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55664" y="3401568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Nov–Dec spikes are consistent. Businesses that plan for this earn significantly more.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 ·  Zambia's Digital Landscape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965960" cy="114300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21.6M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Population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697480" y="1005840"/>
            <a:ext cx="1965960" cy="114300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97480" y="10972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69748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Internet users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1005840"/>
            <a:ext cx="1965960" cy="114300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0972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84632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coverage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95160" y="1005840"/>
            <a:ext cx="1965960" cy="1143000"/>
          </a:xfrm>
          <a:prstGeom prst="rect">
            <a:avLst/>
          </a:prstGeom>
          <a:solidFill>
            <a:srgbClr val="2A7F6F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95160" y="10972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99516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E8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money users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522765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Connectivity at a glance</a:t>
            </a:r>
            <a:endParaRPr lang="en-US" sz="1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10519FF-A8C6-9DA0-F68E-BDFF4A18C4D3}"/>
              </a:ext>
            </a:extLst>
          </p:cNvPr>
          <p:cNvGrpSpPr/>
          <p:nvPr/>
        </p:nvGrpSpPr>
        <p:grpSpPr>
          <a:xfrm>
            <a:off x="548639" y="2983230"/>
            <a:ext cx="4807131" cy="1536192"/>
            <a:chOff x="548640" y="2834640"/>
            <a:chExt cx="8183880" cy="1792224"/>
          </a:xfrm>
        </p:grpSpPr>
        <p:sp>
          <p:nvSpPr>
            <p:cNvPr id="16" name="Text 14"/>
            <p:cNvSpPr/>
            <p:nvPr/>
          </p:nvSpPr>
          <p:spPr>
            <a:xfrm>
              <a:off x="548640" y="2834640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2C3E35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Mobile money users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229600" y="2834640"/>
              <a:ext cx="5029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 b="1" dirty="0">
                  <a:solidFill>
                    <a:srgbClr val="2A7F6F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95%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2926080" y="2880360"/>
              <a:ext cx="5349240" cy="128016"/>
            </a:xfrm>
            <a:prstGeom prst="rect">
              <a:avLst/>
            </a:prstGeom>
            <a:solidFill>
              <a:srgbClr val="EDF2F0"/>
            </a:solidFill>
            <a:ln w="12700">
              <a:solidFill>
                <a:srgbClr val="EDF2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2926080" y="2880360"/>
              <a:ext cx="5081778" cy="128016"/>
            </a:xfrm>
            <a:prstGeom prst="rect">
              <a:avLst/>
            </a:prstGeom>
            <a:solidFill>
              <a:srgbClr val="2A7F6F"/>
            </a:solidFill>
            <a:ln w="12700">
              <a:solidFill>
                <a:srgbClr val="2A7F6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548640" y="3346704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2C3E35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Mobile coverage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229600" y="3346704"/>
              <a:ext cx="5029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 b="1" dirty="0">
                  <a:solidFill>
                    <a:srgbClr val="2A7F6F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92%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2926080" y="3392424"/>
              <a:ext cx="5349240" cy="128016"/>
            </a:xfrm>
            <a:prstGeom prst="rect">
              <a:avLst/>
            </a:prstGeom>
            <a:solidFill>
              <a:srgbClr val="EDF2F0"/>
            </a:solidFill>
            <a:ln w="12700">
              <a:solidFill>
                <a:srgbClr val="EDF2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392424"/>
              <a:ext cx="4921301" cy="128016"/>
            </a:xfrm>
            <a:prstGeom prst="rect">
              <a:avLst/>
            </a:prstGeom>
            <a:solidFill>
              <a:srgbClr val="2A7F6F"/>
            </a:solidFill>
            <a:ln w="12700">
              <a:solidFill>
                <a:srgbClr val="2A7F6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548640" y="3858768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2C3E35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Internet users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229600" y="3858768"/>
              <a:ext cx="5029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 b="1" dirty="0">
                  <a:solidFill>
                    <a:srgbClr val="2A7F6F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33%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26080" y="3904488"/>
              <a:ext cx="5349240" cy="128016"/>
            </a:xfrm>
            <a:prstGeom prst="rect">
              <a:avLst/>
            </a:prstGeom>
            <a:solidFill>
              <a:srgbClr val="EDF2F0"/>
            </a:solidFill>
            <a:ln w="12700">
              <a:solidFill>
                <a:srgbClr val="EDF2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2926080" y="3904488"/>
              <a:ext cx="1765249" cy="128016"/>
            </a:xfrm>
            <a:prstGeom prst="rect">
              <a:avLst/>
            </a:prstGeom>
            <a:solidFill>
              <a:srgbClr val="2A7F6F">
                <a:alpha val="60000"/>
              </a:srgbClr>
            </a:solidFill>
            <a:ln w="12700">
              <a:solidFill>
                <a:srgbClr val="2A7F6F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 26"/>
            <p:cNvSpPr/>
            <p:nvPr/>
          </p:nvSpPr>
          <p:spPr>
            <a:xfrm>
              <a:off x="548640" y="437083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2C3E35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Bank account holders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29600" y="4370832"/>
              <a:ext cx="5029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 b="1" dirty="0">
                  <a:solidFill>
                    <a:srgbClr val="2A7F6F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23%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2926080" y="4416552"/>
              <a:ext cx="5349240" cy="128016"/>
            </a:xfrm>
            <a:prstGeom prst="rect">
              <a:avLst/>
            </a:prstGeom>
            <a:solidFill>
              <a:srgbClr val="EDF2F0"/>
            </a:solidFill>
            <a:ln w="12700">
              <a:solidFill>
                <a:srgbClr val="EDF2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2926080" y="4416552"/>
              <a:ext cx="1230325" cy="128016"/>
            </a:xfrm>
            <a:prstGeom prst="rect">
              <a:avLst/>
            </a:prstGeom>
            <a:solidFill>
              <a:srgbClr val="2A7F6F">
                <a:alpha val="60000"/>
              </a:srgbClr>
            </a:solidFill>
            <a:ln w="12700">
              <a:solidFill>
                <a:srgbClr val="2A7F6F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B31F9F5-B7A4-F119-CC56-F484F521978E}"/>
              </a:ext>
            </a:extLst>
          </p:cNvPr>
          <p:cNvGrpSpPr/>
          <p:nvPr/>
        </p:nvGrpSpPr>
        <p:grpSpPr>
          <a:xfrm>
            <a:off x="5705203" y="2571750"/>
            <a:ext cx="3187337" cy="1947672"/>
            <a:chOff x="5736345" y="2651760"/>
            <a:chExt cx="3187337" cy="1947672"/>
          </a:xfrm>
        </p:grpSpPr>
        <p:sp>
          <p:nvSpPr>
            <p:cNvPr id="32" name="Shape 30"/>
            <p:cNvSpPr/>
            <p:nvPr/>
          </p:nvSpPr>
          <p:spPr>
            <a:xfrm>
              <a:off x="5736345" y="3063240"/>
              <a:ext cx="3187337" cy="1536192"/>
            </a:xfrm>
            <a:prstGeom prst="rect">
              <a:avLst/>
            </a:prstGeom>
            <a:solidFill>
              <a:srgbClr val="F7F9F8"/>
            </a:solidFill>
            <a:ln w="12700">
              <a:solidFill>
                <a:srgbClr val="EDF2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5736345" y="2651760"/>
              <a:ext cx="3063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A7F6F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Key insight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29300" y="2820924"/>
              <a:ext cx="30632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2C3E35"/>
                  </a:solidFill>
                  <a:latin typeface="Poppins" pitchFamily="34" charset="0"/>
                  <a:ea typeface="Poppins" pitchFamily="34" charset="-122"/>
                  <a:cs typeface="Poppins" pitchFamily="34" charset="-120"/>
                </a:rPr>
                <a:t>Only 2% of Zambians use credit cards — but 95% use mobile money. The payment barrier that stopped e-commerce elsewhere doesn't exist here.</a:t>
              </a:r>
              <a:endParaRPr lang="en-US" sz="115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 ·  The Market Opportunity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960120"/>
          <a:ext cx="53035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6172200" y="960120"/>
            <a:ext cx="260604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309360" y="103327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$134M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309360" y="15819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 today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72200" y="2057400"/>
            <a:ext cx="2606040" cy="960120"/>
          </a:xfrm>
          <a:prstGeom prst="rect">
            <a:avLst/>
          </a:prstGeom>
          <a:solidFill>
            <a:srgbClr val="2A7F6F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309360" y="213055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26.7%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309360" y="26791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E8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 growth rate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72200" y="3154680"/>
            <a:ext cx="2606040" cy="96012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09360" y="322783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$2.3B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309360" y="37764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Projected by 2029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Largest categories: Electronics 24%  ·  Fashion 20%  ·  Hobby &amp; Leisure 21%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 ·  Challenges to Navigate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778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— but solvable.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023360" cy="160020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54864" cy="160020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4904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 Internet Penetration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013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 online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130552"/>
            <a:ext cx="3657600" cy="13716"/>
          </a:xfrm>
          <a:prstGeom prst="rect">
            <a:avLst/>
          </a:prstGeom>
          <a:solidFill>
            <a:srgbClr val="EDF2F0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Use WhatsApp &amp; USSD alongside websites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92040" y="1325880"/>
            <a:ext cx="4023360" cy="160020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92040" y="1325880"/>
            <a:ext cx="54864" cy="160020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74920" y="14904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Last-Mile Delivery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74920" y="18013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Rural costs are 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74920" y="2130552"/>
            <a:ext cx="3657600" cy="13716"/>
          </a:xfrm>
          <a:prstGeom prst="rect">
            <a:avLst/>
          </a:prstGeom>
          <a:solidFill>
            <a:srgbClr val="EDF2F0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74920" y="2240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Start in Lusaka, partner with local couriers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54680"/>
            <a:ext cx="4023360" cy="160020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54864" cy="160020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Consumer Trust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3630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to online buying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59352"/>
            <a:ext cx="3657600" cy="13716"/>
          </a:xfrm>
          <a:prstGeom prst="rect">
            <a:avLst/>
          </a:prstGeom>
          <a:solidFill>
            <a:srgbClr val="EDF2F0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4069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Offer cash-on-delivery &amp; clear return policies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3154680"/>
            <a:ext cx="4023360" cy="1600200"/>
          </a:xfrm>
          <a:prstGeom prst="rect">
            <a:avLst/>
          </a:prstGeom>
          <a:solidFill>
            <a:srgbClr val="F7F9F8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92040" y="3154680"/>
            <a:ext cx="54864" cy="1600200"/>
          </a:xfrm>
          <a:prstGeom prst="rect">
            <a:avLst/>
          </a:prstGeom>
          <a:solidFill>
            <a:srgbClr val="2A7F6F"/>
          </a:solidFill>
          <a:ln w="12700">
            <a:solidFill>
              <a:srgbClr val="2A7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74920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B3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Urban–Rural Divide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4920" y="36301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 live rurally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4920" y="3959352"/>
            <a:ext cx="3657600" cy="13716"/>
          </a:xfrm>
          <a:prstGeom prst="rect">
            <a:avLst/>
          </a:prstGeom>
          <a:solidFill>
            <a:srgbClr val="EDF2F0"/>
          </a:solidFill>
          <a:ln w="12700">
            <a:solidFill>
              <a:srgbClr val="EDF2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74920" y="4069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Phase rollout — cities first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2A7F6F">
              <a:alpha val="10000"/>
            </a:srgbClr>
          </a:solidFill>
          <a:ln w="12700">
            <a:solidFill>
              <a:srgbClr val="2A7F6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 · 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YES — it can work.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8046720" cy="685800"/>
          </a:xfrm>
          <a:prstGeom prst="rect">
            <a:avLst/>
          </a:prstGeom>
          <a:solidFill>
            <a:srgbClr val="2A7F6F">
              <a:alpha val="20000"/>
            </a:srgbClr>
          </a:solidFill>
          <a:ln w="12700">
            <a:solidFill>
              <a:srgbClr val="2A7F6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Zambia's market is growing at 26.7% — mobile money solves the payment gap and consumer behaviour is already shifting.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606040" cy="1051560"/>
          </a:xfrm>
          <a:prstGeom prst="rect">
            <a:avLst/>
          </a:prstGeom>
          <a:solidFill>
            <a:srgbClr val="172530"/>
          </a:solidFill>
          <a:ln w="12700">
            <a:solidFill>
              <a:srgbClr val="1725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9992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Mobile-first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33009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for WhatsApp &amp; mobile money before a website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2606040"/>
            <a:ext cx="2606040" cy="1051560"/>
          </a:xfrm>
          <a:prstGeom prst="rect">
            <a:avLst/>
          </a:prstGeom>
          <a:solidFill>
            <a:srgbClr val="172530"/>
          </a:solidFill>
          <a:ln w="12700">
            <a:solidFill>
              <a:srgbClr val="1725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26974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 in Lusaka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33009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in cities, then expand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2606040"/>
            <a:ext cx="2606040" cy="1051560"/>
          </a:xfrm>
          <a:prstGeom prst="rect">
            <a:avLst/>
          </a:prstGeom>
          <a:solidFill>
            <a:srgbClr val="172530"/>
          </a:solidFill>
          <a:ln w="12700">
            <a:solidFill>
              <a:srgbClr val="1725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55080" y="269748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5080" y="29992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Cash-on-delivery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33009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Removes trust barrier, boosts conversions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2606040" cy="1051560"/>
          </a:xfrm>
          <a:prstGeom prst="rect">
            <a:avLst/>
          </a:prstGeom>
          <a:solidFill>
            <a:srgbClr val="172530"/>
          </a:solidFill>
          <a:ln w="12700">
            <a:solidFill>
              <a:srgbClr val="1725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393192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42336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Electronics &amp; Fashion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45354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Largest categories — start where demand exists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83280" y="3840480"/>
            <a:ext cx="2606040" cy="1051560"/>
          </a:xfrm>
          <a:prstGeom prst="rect">
            <a:avLst/>
          </a:prstGeom>
          <a:solidFill>
            <a:srgbClr val="172530"/>
          </a:solidFill>
          <a:ln w="12700">
            <a:solidFill>
              <a:srgbClr val="1725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520440" y="393192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0440" y="42336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December peaks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20440" y="45354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Festive demand is your biggest revenue window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3840480"/>
            <a:ext cx="2606040" cy="1051560"/>
          </a:xfrm>
          <a:prstGeom prst="rect">
            <a:avLst/>
          </a:prstGeom>
          <a:solidFill>
            <a:srgbClr val="172530"/>
          </a:solidFill>
          <a:ln w="12700">
            <a:solidFill>
              <a:srgbClr val="1725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55080" y="393192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7F6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55080" y="42336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 on delivery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55080" y="45354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local couriers from day one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3200400" cy="3200400"/>
          </a:xfrm>
          <a:prstGeom prst="ellipse">
            <a:avLst/>
          </a:prstGeom>
          <a:solidFill>
            <a:srgbClr val="2A7F6F">
              <a:alpha val="10000"/>
            </a:srgbClr>
          </a:solidFill>
          <a:ln w="12700">
            <a:solidFill>
              <a:srgbClr val="2A7F6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opportunity is real.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94360" y="214884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Zambia is growing faster than the UK did at this stage.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payment layer is solved. Behaviour is shifting.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question is whether we move now — or watch others do it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4160520"/>
            <a:ext cx="7955280" cy="13716"/>
          </a:xfrm>
          <a:prstGeom prst="rect">
            <a:avLst/>
          </a:prstGeom>
          <a:solidFill>
            <a:srgbClr val="2A7F6F">
              <a:alpha val="50000"/>
            </a:srgbClr>
          </a:solidFill>
          <a:ln w="12700">
            <a:solidFill>
              <a:srgbClr val="2A7F6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43434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  ·  Questions welcome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522</Words>
  <Application>Microsoft Office PowerPoint</Application>
  <PresentationFormat>On-screen Show (16:9)</PresentationFormat>
  <Paragraphs>122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Zambia Online Retail</dc:title>
  <dc:subject>PptxGenJS Presentation</dc:subject>
  <dc:creator>PptxGenJS</dc:creator>
  <cp:lastModifiedBy>FSI Outsourcing</cp:lastModifiedBy>
  <cp:revision>2</cp:revision>
  <dcterms:created xsi:type="dcterms:W3CDTF">2026-05-29T05:43:03Z</dcterms:created>
  <dcterms:modified xsi:type="dcterms:W3CDTF">2026-05-29T06:29:15Z</dcterms:modified>
</cp:coreProperties>
</file>